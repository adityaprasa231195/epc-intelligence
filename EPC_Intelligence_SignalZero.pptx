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778240" y="274320"/>
            <a:ext cx="3200400" cy="548640"/>
          </a:xfrm>
          <a:prstGeom prst="rect">
            <a:avLst/>
          </a:prstGeom>
          <a:solidFill>
            <a:srgbClr val="161616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823960" y="292608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00B4D8"/>
                </a:solidFill>
              </a:rPr>
              <a:t>Team  SignalZero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63040"/>
            <a:ext cx="8686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>
                <a:solidFill>
                  <a:srgbClr val="FFFFFF"/>
                </a:solidFill>
              </a:rPr>
              <a:t>EPC Intelligence Platform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606040"/>
            <a:ext cx="4114800" cy="4114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7889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B0C4D8"/>
                </a:solidFill>
              </a:rPr>
              <a:t>AI-Powered Project Intelligence for Data Centre Construction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5204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55555"/>
                </a:solidFill>
              </a:rPr>
              <a:t>ET AI Hackathon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4389120"/>
            <a:ext cx="5303520" cy="2103120"/>
          </a:xfrm>
          <a:prstGeom prst="rect">
            <a:avLst/>
          </a:prstGeom>
          <a:solidFill>
            <a:srgbClr val="141414"/>
          </a:solidFill>
          <a:ln w="635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452628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0B4D8"/>
                </a:solidFill>
              </a:rPr>
              <a:t>TEAM MEMBERS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4892040"/>
            <a:ext cx="4937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Aniket Dileep Pandey
Omkar Sandip Gore
Aditya Kumar Harishankar Prasad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49224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555555"/>
                </a:solidFill>
              </a:rPr>
              <a:t>01 / 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09728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The Problem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0" y="365760"/>
            <a:ext cx="4023360" cy="1920240"/>
          </a:xfrm>
          <a:prstGeom prst="rect">
            <a:avLst/>
          </a:prstGeom>
          <a:solidFill>
            <a:srgbClr val="001A22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0" y="457200"/>
            <a:ext cx="4023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1">
                <a:solidFill>
                  <a:srgbClr val="00B4D8"/>
                </a:solidFill>
              </a:rPr>
              <a:t>67%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1417320"/>
            <a:ext cx="4023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B0C4D8"/>
                </a:solidFill>
              </a:rPr>
              <a:t>of APAC data centre EPC projects
overrun schedule by &gt;10%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2176272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555555"/>
                </a:solidFill>
              </a:rPr>
              <a:t>Turner &amp; Townsend, 2024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600200"/>
            <a:ext cx="6949440" cy="749808"/>
          </a:xfrm>
          <a:prstGeom prst="rect">
            <a:avLst/>
          </a:prstGeom>
          <a:solidFill>
            <a:srgbClr val="161616"/>
          </a:solidFill>
          <a:ln w="635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600200"/>
            <a:ext cx="36576" cy="7498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636776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B4D8"/>
                </a:solidFill>
              </a:rPr>
              <a:t>Specification Drift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947672"/>
            <a:ext cx="6492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C4D8"/>
                </a:solidFill>
              </a:rPr>
              <a:t>Procurement orders don't match the spec. Discovered on site — too late.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468880"/>
            <a:ext cx="6949440" cy="749808"/>
          </a:xfrm>
          <a:prstGeom prst="rect">
            <a:avLst/>
          </a:prstGeom>
          <a:solidFill>
            <a:srgbClr val="161616"/>
          </a:solidFill>
          <a:ln w="635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2468880"/>
            <a:ext cx="36576" cy="7498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505456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B4D8"/>
                </a:solidFill>
              </a:rPr>
              <a:t>Invisible Delays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2816352"/>
            <a:ext cx="6492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C4D8"/>
                </a:solidFill>
              </a:rPr>
              <a:t>Schedule slippages are hidden until they hit the critical path.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337560"/>
            <a:ext cx="6949440" cy="749808"/>
          </a:xfrm>
          <a:prstGeom prst="rect">
            <a:avLst/>
          </a:prstGeom>
          <a:solidFill>
            <a:srgbClr val="161616"/>
          </a:solidFill>
          <a:ln w="635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3337560"/>
            <a:ext cx="36576" cy="7498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374136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B4D8"/>
                </a:solidFill>
              </a:rPr>
              <a:t>Supply Chain Blindness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3685032"/>
            <a:ext cx="6492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C4D8"/>
                </a:solidFill>
              </a:rPr>
              <a:t>Critical equipment shipments tracked via spreadsheets and phone calls.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206240"/>
            <a:ext cx="6949440" cy="749808"/>
          </a:xfrm>
          <a:prstGeom prst="rect">
            <a:avLst/>
          </a:prstGeom>
          <a:solidFill>
            <a:srgbClr val="161616"/>
          </a:solidFill>
          <a:ln w="635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4206240"/>
            <a:ext cx="36576" cy="7498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4242816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B4D8"/>
                </a:solidFill>
              </a:rPr>
              <a:t>Manual Commissioning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4553712"/>
            <a:ext cx="6492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C4D8"/>
                </a:solidFill>
              </a:rPr>
              <a:t>Engineers manually cross-check TIA-942 criteria step by step.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5074920"/>
            <a:ext cx="6949440" cy="749808"/>
          </a:xfrm>
          <a:prstGeom prst="rect">
            <a:avLst/>
          </a:prstGeom>
          <a:solidFill>
            <a:srgbClr val="161616"/>
          </a:solidFill>
          <a:ln w="635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" y="5074920"/>
            <a:ext cx="36576" cy="7498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5111496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B4D8"/>
                </a:solidFill>
              </a:rPr>
              <a:t>Buried Knowledge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422392"/>
            <a:ext cx="6492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C4D8"/>
                </a:solidFill>
              </a:rPr>
              <a:t>RFI answers scattered across email, PDFs, and meeting minutes.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0" y="649224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555555"/>
                </a:solidFill>
              </a:rPr>
              <a:t>02 / 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09728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Our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11338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C4D8"/>
                </a:solidFill>
              </a:rPr>
              <a:t>A unified AI layer over your entire EPC project — specs, schedules, supply chain,
commissioning, and RFIs — all connected, all queryable in plain English.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2194560"/>
            <a:ext cx="2148840" cy="4206240"/>
          </a:xfrm>
          <a:prstGeom prst="rect">
            <a:avLst/>
          </a:prstGeom>
          <a:solidFill>
            <a:srgbClr val="161616"/>
          </a:solidFill>
          <a:ln w="635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2194560"/>
            <a:ext cx="2148840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29768" y="2331720"/>
            <a:ext cx="347472" cy="347472"/>
          </a:xfrm>
          <a:prstGeom prst="rect">
            <a:avLst/>
          </a:prstGeom>
          <a:solidFill>
            <a:srgbClr val="001A22"/>
          </a:solidFill>
          <a:ln w="1016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" y="233172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0B4D8"/>
                </a:solidFill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278892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Specification &amp;
Compliance Agent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3520440"/>
            <a:ext cx="19202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0C4D8"/>
                </a:solidFill>
              </a:rPr>
              <a:t>Checks every procurement item against spec. Raises NCRs automatically. Vision AI reviews drawings against TIA-942.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51760" y="2194560"/>
            <a:ext cx="2148840" cy="4206240"/>
          </a:xfrm>
          <a:prstGeom prst="rect">
            <a:avLst/>
          </a:prstGeom>
          <a:solidFill>
            <a:srgbClr val="161616"/>
          </a:solidFill>
          <a:ln w="635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651760" y="2194560"/>
            <a:ext cx="2148840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61488" y="2331720"/>
            <a:ext cx="347472" cy="347472"/>
          </a:xfrm>
          <a:prstGeom prst="rect">
            <a:avLst/>
          </a:prstGeom>
          <a:solidFill>
            <a:srgbClr val="001A22"/>
          </a:solidFill>
          <a:ln w="1016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61488" y="233172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0B4D8"/>
                </a:solidFill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61488" y="278892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Schedule Risk
Engine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61488" y="3520440"/>
            <a:ext cx="19202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0C4D8"/>
                </a:solidFill>
              </a:rPr>
              <a:t>Critical path analysis with dependency propagation. Generates 3 actionable mitigations per at-risk task.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983480" y="2194560"/>
            <a:ext cx="2148840" cy="4206240"/>
          </a:xfrm>
          <a:prstGeom prst="rect">
            <a:avLst/>
          </a:prstGeom>
          <a:solidFill>
            <a:srgbClr val="161616"/>
          </a:solidFill>
          <a:ln w="635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983480" y="2194560"/>
            <a:ext cx="2148840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93208" y="2331720"/>
            <a:ext cx="347472" cy="347472"/>
          </a:xfrm>
          <a:prstGeom prst="rect">
            <a:avLst/>
          </a:prstGeom>
          <a:solidFill>
            <a:srgbClr val="001A22"/>
          </a:solidFill>
          <a:ln w="1016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93208" y="233172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0B4D8"/>
                </a:solidFill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93208" y="278892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Supply Chain
Visibility Agent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93208" y="3520440"/>
            <a:ext cx="19202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0C4D8"/>
                </a:solidFill>
              </a:rPr>
              <a:t>Tracks 10 critical equipment types. Flags at-risk shipments. Suggests qualified alternative suppliers instantly.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0" y="2194560"/>
            <a:ext cx="2148840" cy="4206240"/>
          </a:xfrm>
          <a:prstGeom prst="rect">
            <a:avLst/>
          </a:prstGeom>
          <a:solidFill>
            <a:srgbClr val="161616"/>
          </a:solidFill>
          <a:ln w="635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15200" y="2194560"/>
            <a:ext cx="2148840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424927" y="2331720"/>
            <a:ext cx="347472" cy="347472"/>
          </a:xfrm>
          <a:prstGeom prst="rect">
            <a:avLst/>
          </a:prstGeom>
          <a:solidFill>
            <a:srgbClr val="001A22"/>
          </a:solidFill>
          <a:ln w="1016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24927" y="233172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0B4D8"/>
                </a:solidFill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24927" y="278892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Commissioning
QA Copilot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24927" y="3520440"/>
            <a:ext cx="19202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0C4D8"/>
                </a:solidFill>
              </a:rPr>
              <a:t>TIA-942 test sequences on demand. Auto-validates measured values. Generates formal test record documents.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646920" y="2194560"/>
            <a:ext cx="2148840" cy="4206240"/>
          </a:xfrm>
          <a:prstGeom prst="rect">
            <a:avLst/>
          </a:prstGeom>
          <a:solidFill>
            <a:srgbClr val="161616"/>
          </a:solidFill>
          <a:ln w="635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646920" y="2194560"/>
            <a:ext cx="2148840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756648" y="2331720"/>
            <a:ext cx="347472" cy="347472"/>
          </a:xfrm>
          <a:prstGeom prst="rect">
            <a:avLst/>
          </a:prstGeom>
          <a:solidFill>
            <a:srgbClr val="001A22"/>
          </a:solidFill>
          <a:ln w="1016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756648" y="233172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0B4D8"/>
                </a:solidFill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56648" y="2788920"/>
            <a:ext cx="1920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RFI Knowledge
Agent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56648" y="3520440"/>
            <a:ext cx="19202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B0C4D8"/>
                </a:solidFill>
              </a:rPr>
              <a:t>RAG over all project RFIs and standards. Answers with citations. Surfaces similar resolved RFIs to cut rework.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0040" y="6400800"/>
            <a:ext cx="11475720" cy="347472"/>
          </a:xfrm>
          <a:prstGeom prst="rect">
            <a:avLst/>
          </a:prstGeom>
          <a:solidFill>
            <a:srgbClr val="00141E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0040" y="6419088"/>
            <a:ext cx="11475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00B4D8"/>
                </a:solidFill>
              </a:rPr>
              <a:t>AI Orchestrator  —  Routes any plain-English query to the right agent automatically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15600" y="649224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555555"/>
                </a:solidFill>
              </a:rPr>
              <a:t>03 / 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09728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11247120" cy="822960"/>
          </a:xfrm>
          <a:prstGeom prst="rect">
            <a:avLst/>
          </a:prstGeom>
          <a:solidFill>
            <a:srgbClr val="101010"/>
          </a:solidFill>
          <a:ln w="1016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36576" cy="8229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508760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00B4D8"/>
                </a:solidFill>
              </a:rPr>
              <a:t>DATA LAYER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83080"/>
            <a:ext cx="11018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C4D8"/>
                </a:solidFill>
              </a:rPr>
              <a:t>procurement_items.csv  |  project_schedule.json  |  supplier_locations.json  |  rfis.json  |  TIA-942 Standards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468880"/>
            <a:ext cx="11247120" cy="822960"/>
          </a:xfrm>
          <a:prstGeom prst="rect">
            <a:avLst/>
          </a:prstGeom>
          <a:solidFill>
            <a:srgbClr val="001018"/>
          </a:solidFill>
          <a:ln w="10160">
            <a:solidFill>
              <a:srgbClr val="005F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468880"/>
            <a:ext cx="36576" cy="8229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514600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00B4D8"/>
                </a:solidFill>
              </a:rPr>
              <a:t>CORE LAYER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788920"/>
            <a:ext cx="11018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C4D8"/>
                </a:solidFill>
              </a:rPr>
              <a:t>RAGEngine  (pure Python, in-memory keyword search)     GroqClient  (singleton, lazy-init, rate-limit fallback)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474720"/>
            <a:ext cx="11247120" cy="822960"/>
          </a:xfrm>
          <a:prstGeom prst="rect">
            <a:avLst/>
          </a:prstGeom>
          <a:solidFill>
            <a:srgbClr val="0A0A1A"/>
          </a:solidFill>
          <a:ln w="10160">
            <a:solidFill>
              <a:srgbClr val="1A1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474720"/>
            <a:ext cx="36576" cy="8229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3520439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00B4D8"/>
                </a:solidFill>
              </a:rPr>
              <a:t>AGENT LAYER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3794759"/>
            <a:ext cx="11018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C4D8"/>
                </a:solidFill>
              </a:rPr>
              <a:t>Spec Compliance     Schedule Risk     Supply Chain     Commissioning QA     RFI Knowledge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480560"/>
            <a:ext cx="11247120" cy="640080"/>
          </a:xfrm>
          <a:prstGeom prst="rect">
            <a:avLst/>
          </a:prstGeom>
          <a:solidFill>
            <a:srgbClr val="001808"/>
          </a:solidFill>
          <a:ln w="10160">
            <a:solidFill>
              <a:srgbClr val="0055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4480560"/>
            <a:ext cx="36576" cy="6400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4526280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00B4D8"/>
                </a:solidFill>
              </a:rPr>
              <a:t>ORCHESTRATOR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4800600"/>
            <a:ext cx="11018520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C4D8"/>
                </a:solidFill>
              </a:rPr>
              <a:t>Keyword classifier  (deterministic)  →  Groq LLM classifier  (fallback)  →  Dispatch to agent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303520"/>
            <a:ext cx="11247120" cy="640080"/>
          </a:xfrm>
          <a:prstGeom prst="rect">
            <a:avLst/>
          </a:prstGeom>
          <a:solidFill>
            <a:srgbClr val="101010"/>
          </a:solidFill>
          <a:ln w="1016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5303520"/>
            <a:ext cx="36576" cy="6400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5349240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00B4D8"/>
                </a:solidFill>
              </a:rPr>
              <a:t>UI LAYER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5623559"/>
            <a:ext cx="11018520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C4D8"/>
                </a:solidFill>
              </a:rPr>
              <a:t>Streamlit  |  5 tabs  |  Sidebar dashboard  |  Session-state persistence  |  Download buttons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053328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55555"/>
                </a:solidFill>
              </a:rPr>
              <a:t>Groq API  (llama-3.3-70b text  +  llama-4-scout vision)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0" y="649224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555555"/>
                </a:solidFill>
              </a:rPr>
              <a:t>04 / 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09728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Demo Highlights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11338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C4D8"/>
                </a:solidFill>
              </a:rPr>
              <a:t>One continuous story — a UPS vendor submits a spec and the AI catches every downstream risk.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920240"/>
            <a:ext cx="5577840" cy="1261872"/>
          </a:xfrm>
          <a:prstGeom prst="rect">
            <a:avLst/>
          </a:prstGeom>
          <a:solidFill>
            <a:srgbClr val="161616"/>
          </a:solidFill>
          <a:ln w="635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920240"/>
            <a:ext cx="36576" cy="12618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99339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B4D8"/>
                </a:solidFill>
              </a:rPr>
              <a:t>Vision 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359152"/>
            <a:ext cx="53035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C4D8"/>
                </a:solidFill>
              </a:rPr>
              <a:t>Upload vendor drawing  →  Llama 4 Scout reads it  →  TIA-942 clause-level compliance review in seconds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5080" y="1920240"/>
            <a:ext cx="5577840" cy="1261872"/>
          </a:xfrm>
          <a:prstGeom prst="rect">
            <a:avLst/>
          </a:prstGeom>
          <a:solidFill>
            <a:srgbClr val="161616"/>
          </a:solidFill>
          <a:ln w="635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1920240"/>
            <a:ext cx="36576" cy="12618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99339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B4D8"/>
                </a:solidFill>
              </a:rPr>
              <a:t>Auto NCR Logging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359152"/>
            <a:ext cx="53035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C4D8"/>
                </a:solidFill>
              </a:rPr>
              <a:t>Spec says 15 min UPS autonomy. Vendor submits 10 min. NCR raised automatically. CRITICAL severity. Audit trail written.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337560"/>
            <a:ext cx="5577840" cy="1261872"/>
          </a:xfrm>
          <a:prstGeom prst="rect">
            <a:avLst/>
          </a:prstGeom>
          <a:solidFill>
            <a:srgbClr val="161616"/>
          </a:solidFill>
          <a:ln w="635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3337560"/>
            <a:ext cx="36576" cy="12618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41071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B4D8"/>
                </a:solidFill>
              </a:rPr>
              <a:t>Schedule Impact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3776472"/>
            <a:ext cx="53035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C4D8"/>
                </a:solidFill>
              </a:rPr>
              <a:t>UPS delay propagates through the dependency chain. Critical path violations surfaced. 3 mitigations generated by Groq.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5080" y="3337560"/>
            <a:ext cx="5577840" cy="1261872"/>
          </a:xfrm>
          <a:prstGeom prst="rect">
            <a:avLst/>
          </a:prstGeom>
          <a:solidFill>
            <a:srgbClr val="161616"/>
          </a:solidFill>
          <a:ln w="635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55080" y="3337560"/>
            <a:ext cx="36576" cy="12618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341071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B4D8"/>
                </a:solidFill>
              </a:rPr>
              <a:t>Supply Chain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3776472"/>
            <a:ext cx="53035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C4D8"/>
                </a:solidFill>
              </a:rPr>
              <a:t>Shipment ETA &lt; 7 days and not delivered  →  flagged AT RISK  →  3 alternative suppliers suggested instantly.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754880"/>
            <a:ext cx="5577840" cy="1261872"/>
          </a:xfrm>
          <a:prstGeom prst="rect">
            <a:avLst/>
          </a:prstGeom>
          <a:solidFill>
            <a:srgbClr val="161616"/>
          </a:solidFill>
          <a:ln w="635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4754880"/>
            <a:ext cx="36576" cy="12618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482803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B4D8"/>
                </a:solidFill>
              </a:rPr>
              <a:t>Commissioning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5193792"/>
            <a:ext cx="53035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C4D8"/>
                </a:solidFill>
              </a:rPr>
              <a:t>Load power test sequence. Enter 0.5 ohm  →  PASS. Enter 50 MΩ  →  FAIL. Download formal test record PDF.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55080" y="4754880"/>
            <a:ext cx="5577840" cy="1261872"/>
          </a:xfrm>
          <a:prstGeom prst="rect">
            <a:avLst/>
          </a:prstGeom>
          <a:solidFill>
            <a:srgbClr val="161616"/>
          </a:solidFill>
          <a:ln w="635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55080" y="4754880"/>
            <a:ext cx="36576" cy="12618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92240" y="482803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B4D8"/>
                </a:solidFill>
              </a:rPr>
              <a:t>RFI Chat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5193792"/>
            <a:ext cx="53035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C4D8"/>
                </a:solidFill>
              </a:rPr>
              <a:t>Ask: 'UPS battery autonomy for Tier III?'  →  Answer with [SOURCE: tia942_excerpts.txt]  +  similar resolved RFIs.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0" y="649224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555555"/>
                </a:solidFill>
              </a:rPr>
              <a:t>05 / 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09728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Business Impact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5212080" cy="1463040"/>
          </a:xfrm>
          <a:prstGeom prst="rect">
            <a:avLst/>
          </a:prstGeom>
          <a:solidFill>
            <a:srgbClr val="161616"/>
          </a:solidFill>
          <a:ln w="635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36576" cy="14630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5544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Early Detection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993392"/>
            <a:ext cx="4937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C4D8"/>
                </a:solidFill>
              </a:rPr>
              <a:t>Spec deviations caught pre-delivery.
Fixing in factory vs on site = 100x cost difference.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0" y="1463040"/>
            <a:ext cx="5212080" cy="1463040"/>
          </a:xfrm>
          <a:prstGeom prst="rect">
            <a:avLst/>
          </a:prstGeom>
          <a:solidFill>
            <a:srgbClr val="161616"/>
          </a:solidFill>
          <a:ln w="635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35040" y="1463040"/>
            <a:ext cx="36576" cy="14630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72200" y="15544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Schedule Visibility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72200" y="1993392"/>
            <a:ext cx="4937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C4D8"/>
                </a:solidFill>
              </a:rPr>
              <a:t>Risks visible weeks in advance.
Project managers get options, not post-mortems.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108960"/>
            <a:ext cx="5212080" cy="1463040"/>
          </a:xfrm>
          <a:prstGeom prst="rect">
            <a:avLst/>
          </a:prstGeom>
          <a:solidFill>
            <a:srgbClr val="161616"/>
          </a:solidFill>
          <a:ln w="635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108960"/>
            <a:ext cx="36576" cy="14630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32004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Faster Commissioning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3639312"/>
            <a:ext cx="4937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C4D8"/>
                </a:solidFill>
              </a:rPr>
              <a:t>Auto-generated test sequences + instant PASS/FAIL.
Test records built automatically.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35040" y="3108960"/>
            <a:ext cx="5212080" cy="1463040"/>
          </a:xfrm>
          <a:prstGeom prst="rect">
            <a:avLst/>
          </a:prstGeom>
          <a:solidFill>
            <a:srgbClr val="161616"/>
          </a:solidFill>
          <a:ln w="635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35040" y="3108960"/>
            <a:ext cx="36576" cy="14630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72200" y="32004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Zero Rework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72200" y="3639312"/>
            <a:ext cx="4937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C4D8"/>
                </a:solidFill>
              </a:rPr>
              <a:t>RAG surfaces resolved RFIs instantly.
Same question never raised twice.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892040"/>
            <a:ext cx="11247120" cy="457200"/>
          </a:xfrm>
          <a:prstGeom prst="rect">
            <a:avLst/>
          </a:prstGeom>
          <a:solidFill>
            <a:srgbClr val="001018"/>
          </a:solidFill>
          <a:ln w="1016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4928616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B0C4D8"/>
                </a:solidFill>
              </a:rPr>
              <a:t>Groq  llama-3.3-70b  +  llama-4-scout (vision)   |   Streamlit   |   Pure Python RAG   |   4 dependencies   |   Python 3.11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5532120"/>
            <a:ext cx="11247120" cy="1005840"/>
          </a:xfrm>
          <a:prstGeom prst="rect">
            <a:avLst/>
          </a:prstGeom>
          <a:solidFill>
            <a:srgbClr val="00141E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5577840"/>
            <a:ext cx="11247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</a:rPr>
              <a:t>India is building the AI infrastructure that the world will run on.
The EPC Intelligence Platform ensures it gets built right.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0" y="649224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>
                <a:solidFill>
                  <a:srgbClr val="555555"/>
                </a:solidFill>
              </a:rPr>
              <a:t>06 / 06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